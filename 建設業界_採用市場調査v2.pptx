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109728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8D8"/>
                </a:solidFill>
                <a:latin typeface="メイリオ"/>
              </a:rPr>
              <a:t>中堅ゼネコン 採用支援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メイリオ"/>
              </a:rPr>
              <a:t>建設・土木業界
求人市場実態調査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8D8"/>
                </a:solidFill>
                <a:latin typeface="メイリオ"/>
              </a:rPr>
              <a:t>採用戦略立案のための競合市場データ分析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0"/>
                </a:solidFill>
                <a:latin typeface="メイリオ"/>
              </a:rPr>
              <a:t>対象：建設・土木・不動産・再生可能エネルギー  |  N=10,526件  |  2024年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7090"/>
                </a:solidFill>
                <a:latin typeface="メイリオ"/>
              </a:rPr>
              <a:t>Confidential  |  採用コンサルティング資料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調査概要：8職種・10,526件の競合求人データを分析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📊 Survey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分析対象 求人件数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10,526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対象職種数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職種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データソース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r-agent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74519"/>
            <a:ext cx="1179576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競合求人の年収レンジ：下限400〜500万円帯が最多、上限は600〜700万円帯がピーク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💴 Salary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下限年収 中央値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450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上限年収 中央値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675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年収レンジ幅 中央値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225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1901952"/>
            <a:ext cx="557784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1938528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460"/>
                </a:solidFill>
                <a:latin typeface="メイリオ"/>
              </a:rPr>
              <a:t>下限年収 提示分布（N=10,162件）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212848"/>
            <a:ext cx="5577840" cy="425196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961888" y="1901952"/>
            <a:ext cx="603504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1938528"/>
            <a:ext cx="5852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460"/>
                </a:solidFill>
                <a:latin typeface="メイリオ"/>
              </a:rPr>
              <a:t>上限年収 提示分布（N=6,367件）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212848"/>
            <a:ext cx="60350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職種別年収比較（下限・上限 中央値）：カテゴリ間の年収水準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💴 Salary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最高年収職種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不動産開発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不動産開発 下限中央値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施工管理 下限中央値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450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74519"/>
            <a:ext cx="117957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一級資格保有者の採用には下限568万円以上が競争力の目安、二級比で約150万円高い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🏅 Qualification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一級建築施工 下限中央値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568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二級建築施工 下限中央値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422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一・二級差分（下限）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▲146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1901952"/>
            <a:ext cx="576072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193852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63EB"/>
                </a:solidFill>
                <a:latin typeface="メイリオ"/>
              </a:rPr>
              <a:t>一級資格  提示年収（下限中央値）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212848"/>
            <a:ext cx="5760720" cy="4114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144768" y="1901952"/>
            <a:ext cx="5760720" cy="2926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93852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63EB"/>
                </a:solidFill>
                <a:latin typeface="メイリオ"/>
              </a:rPr>
              <a:t>二級資格  提示年収（下限中央値）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12848"/>
            <a:ext cx="5760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上場区分別 下限年収中央値：プライム・スタンダード・グロース・非上場の比較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🏢 Listed vs Non-Listed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非上場/不明 下限中央値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450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プライム上場 下限中央値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435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非上場 vs プライム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＋15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万円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74519"/>
            <a:ext cx="117957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年間休日分布（N=10,526件）：120〜125日帯への集中状況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📅 Annual Leave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年間休日データあり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7,271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中央値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120〜125日帯 集中率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74519"/>
            <a:ext cx="1179576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月残業時間 分布（N=10,526件）：20〜30h帯への集中状況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⏱ Overtime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残業データあり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2,550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中央値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h/月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20〜30h帯 集中率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74519"/>
            <a:ext cx="1179576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特典別 普及率（%）：競合求人10,526件における各条件の記載率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📋 Benefit Penetration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完全週休2日 普及率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退職金制度 普及率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リモートワーク普及率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1901952"/>
            <a:ext cx="5760720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193852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メイリオ"/>
              </a:rPr>
              <a:t>業界標準（普及率50%超）：訴求効果が薄い条件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212848"/>
            <a:ext cx="5760720" cy="3840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961888" y="1901952"/>
            <a:ext cx="603504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1938528"/>
            <a:ext cx="5852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63EB"/>
                </a:solidFill>
                <a:latin typeface="メイリオ"/>
              </a:rPr>
              <a:t>普及率 50%未満の条件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212848"/>
            <a:ext cx="60350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リモートワーク・フレックス導入率（%）：建設業と他業種参考値の比較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🏠 Remote &amp; Flex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建設業 リモートワーク率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他業種 参考値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競合との差（リモート）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▲49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pt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74519"/>
            <a:ext cx="1179576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育休・産休実績 求人票記載率：建設業（2%）と他業種参考値の比較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👶 Parental Leave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育休実績 開示率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製造業 参考値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IT業界 参考値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1874519"/>
            <a:ext cx="5029200" cy="429768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1874519"/>
            <a:ext cx="50292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EF4444"/>
                </a:solidFill>
                <a:latin typeface="メイリオ"/>
              </a:rPr>
              <a:t>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947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メイリオ"/>
              </a:rPr>
              <a:t>10,526件中 約225件のみが
育休・産休実績を求人票に記載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72000"/>
            <a:ext cx="5029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46817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メイリオ"/>
              </a:rPr>
              <a:t>業界最低水準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74519"/>
            <a:ext cx="649224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64592"/>
            <a:ext cx="64008" cy="43891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460"/>
                </a:solidFill>
                <a:latin typeface="メイリオ"/>
              </a:rPr>
              <a:t>年齢条件の記載状況（N=10,526件）：上限年齢・世代訴求・年齢不問の分布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🎂 Age Condition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85800"/>
            <a:ext cx="118872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メイリオ"/>
              </a:rPr>
              <a:t>※ r-agent 求人掲載データ（2024年）に基づく分析。掲載件数N=10,526件。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メイリオ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3474720" cy="50292"/>
          </a:xfrm>
          <a:prstGeom prst="rect">
            <a:avLst/>
          </a:prstGeom>
          <a:solidFill>
            <a:srgbClr val="21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年齢上限 記載あり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4487" y="822960"/>
            <a:ext cx="3474720" cy="50292"/>
          </a:xfrm>
          <a:prstGeom prst="rect">
            <a:avLst/>
          </a:prstGeom>
          <a:solidFill>
            <a:srgbClr val="1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上限年齢 中央値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822960"/>
            <a:ext cx="34747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822960"/>
            <a:ext cx="34747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9144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メイリオ"/>
              </a:rPr>
              <a:t>年齢不問 記載率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704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460"/>
                </a:solidFill>
                <a:latin typeface="メイリオ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メイリオ"/>
              </a:rPr>
              <a:t>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1901952"/>
            <a:ext cx="576072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193852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63EB"/>
                </a:solidFill>
                <a:latin typeface="メイリオ"/>
              </a:rPr>
              <a:t>年齢上限 分布（記載あり求人のみ）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212848"/>
            <a:ext cx="5760720" cy="4114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961888" y="1901952"/>
            <a:ext cx="603504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1938528"/>
            <a:ext cx="5852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460"/>
                </a:solidFill>
                <a:latin typeface="メイリオ"/>
              </a:rPr>
              <a:t>世代・年齢訴求キーワード 記載率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212848"/>
            <a:ext cx="6035040" cy="21031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961888" y="4407408"/>
            <a:ext cx="6035040" cy="2926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4443984"/>
            <a:ext cx="5852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メイリオ"/>
              </a:rPr>
              <a:t>職種別 年齢上限 中央値（記載あり）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718304"/>
            <a:ext cx="60350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