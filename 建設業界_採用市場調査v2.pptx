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8895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0"/>
            <a:ext cx="109728" cy="2926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A0B8D8"/>
                </a:solidFill>
                <a:latin typeface="メイリオ"/>
              </a:rPr>
              <a:t>中堅ゼネコン 採用支援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188720"/>
            <a:ext cx="9144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メイリオ"/>
              </a:rPr>
              <a:t>建設・土木業界
求人市場実態調査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08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0B8D8"/>
                </a:solidFill>
                <a:latin typeface="メイリオ"/>
              </a:rPr>
              <a:t>採用戦略立案のための競合市場データ分析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090B0"/>
                </a:solidFill>
                <a:latin typeface="メイリオ"/>
              </a:rPr>
              <a:t>対象：建設・土木・不動産・再生可能エネルギー  |  N=10,526件  |  2024年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7090"/>
                </a:solidFill>
                <a:latin typeface="メイリオ"/>
              </a:rPr>
              <a:t>Confidential  |  採用コンサルティング資料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164592"/>
            <a:ext cx="64008" cy="438912"/>
          </a:xfrm>
          <a:prstGeom prst="rect">
            <a:avLst/>
          </a:prstGeom>
          <a:solidFill>
            <a:srgbClr val="1A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55448"/>
            <a:ext cx="9601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460"/>
                </a:solidFill>
                <a:latin typeface="メイリオ"/>
              </a:rPr>
              <a:t>調査概要：8職種・10,526件の競合求人データを分析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18288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メイリオ"/>
              </a:rPr>
              <a:t>📊 Survey Overview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" y="685800"/>
            <a:ext cx="11887200" cy="18288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8368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メイリオ"/>
              </a:rPr>
              <a:t>※ r-agent 求人掲載データ（2024年）に基づく分析。掲載件数N=10,526件。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0" y="6583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メイリオ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" y="822960"/>
            <a:ext cx="347472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1168" y="822960"/>
            <a:ext cx="3474720" cy="50292"/>
          </a:xfrm>
          <a:prstGeom prst="rect">
            <a:avLst/>
          </a:prstGeom>
          <a:solidFill>
            <a:srgbClr val="1A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9144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メイリオ"/>
              </a:rPr>
              <a:t>分析対象 求人件数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17043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3460"/>
                </a:solidFill>
                <a:latin typeface="メイリオ"/>
              </a:rPr>
              <a:t>10,526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32588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メイリオ"/>
              </a:rPr>
              <a:t>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04487" y="822960"/>
            <a:ext cx="347472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04487" y="822960"/>
            <a:ext cx="3474720" cy="502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9079" y="9144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メイリオ"/>
              </a:rPr>
              <a:t>対象職種数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79" y="117043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3460"/>
                </a:solidFill>
                <a:latin typeface="メイリオ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42816" y="132588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メイリオ"/>
              </a:rPr>
              <a:t>職種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07808" y="822960"/>
            <a:ext cx="347472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07808" y="822960"/>
            <a:ext cx="3474720" cy="50292"/>
          </a:xfrm>
          <a:prstGeom prst="rect">
            <a:avLst/>
          </a:prstGeom>
          <a:solidFill>
            <a:srgbClr val="1A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9144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メイリオ"/>
              </a:rPr>
              <a:t>データソース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117043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3460"/>
                </a:solidFill>
                <a:latin typeface="メイリオ"/>
              </a:rPr>
              <a:t>r-agent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1874519"/>
            <a:ext cx="11795760" cy="46177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164592"/>
            <a:ext cx="64008" cy="438912"/>
          </a:xfrm>
          <a:prstGeom prst="rect">
            <a:avLst/>
          </a:prstGeom>
          <a:solidFill>
            <a:srgbClr val="1A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55448"/>
            <a:ext cx="9601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460"/>
                </a:solidFill>
                <a:latin typeface="メイリオ"/>
              </a:rPr>
              <a:t>競合求人の年収レンジ：下限400〜500万円帯が最多、上限は600〜700万円帯がピーク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18288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メイリオ"/>
              </a:rPr>
              <a:t>💴 Salary Distribution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" y="685800"/>
            <a:ext cx="11887200" cy="18288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8368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メイリオ"/>
              </a:rPr>
              <a:t>※ r-agent 求人掲載データ（2024年）に基づく分析。掲載件数N=10,526件。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0" y="6583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メイリオ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" y="822960"/>
            <a:ext cx="347472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1168" y="822960"/>
            <a:ext cx="3474720" cy="50292"/>
          </a:xfrm>
          <a:prstGeom prst="rect">
            <a:avLst/>
          </a:prstGeom>
          <a:solidFill>
            <a:srgbClr val="21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9144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メイリオ"/>
              </a:rPr>
              <a:t>下限年収 中央値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17043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3460"/>
                </a:solidFill>
                <a:latin typeface="メイリオ"/>
              </a:rPr>
              <a:t>450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132588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メイリオ"/>
              </a:rPr>
              <a:t>万円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04487" y="822960"/>
            <a:ext cx="347472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04487" y="822960"/>
            <a:ext cx="3474720" cy="502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9079" y="9144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メイリオ"/>
              </a:rPr>
              <a:t>上限年収 中央値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79" y="117043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3460"/>
                </a:solidFill>
                <a:latin typeface="メイリオ"/>
              </a:rPr>
              <a:t>675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132588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メイリオ"/>
              </a:rPr>
              <a:t>万円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07808" y="822960"/>
            <a:ext cx="347472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07808" y="822960"/>
            <a:ext cx="3474720" cy="50292"/>
          </a:xfrm>
          <a:prstGeom prst="rect">
            <a:avLst/>
          </a:prstGeom>
          <a:solidFill>
            <a:srgbClr val="1A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9144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メイリオ"/>
              </a:rPr>
              <a:t>年収レンジ幅 中央値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117043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3460"/>
                </a:solidFill>
                <a:latin typeface="メイリオ"/>
              </a:rPr>
              <a:t>225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132588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メイリオ"/>
              </a:rPr>
              <a:t>万円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" y="1901952"/>
            <a:ext cx="5577840" cy="292608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8" y="1938528"/>
            <a:ext cx="53949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460"/>
                </a:solidFill>
                <a:latin typeface="メイリオ"/>
              </a:rPr>
              <a:t>下限年収 提示分布（N=10,162件）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2212848"/>
            <a:ext cx="5577840" cy="425196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5961888" y="1901952"/>
            <a:ext cx="6035040" cy="292608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9048" y="1938528"/>
            <a:ext cx="58521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460"/>
                </a:solidFill>
                <a:latin typeface="メイリオ"/>
              </a:rPr>
              <a:t>上限年収 提示分布（N=6,367件）</a:t>
            </a:r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1888" y="2212848"/>
            <a:ext cx="6035040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164592"/>
            <a:ext cx="64008" cy="438912"/>
          </a:xfrm>
          <a:prstGeom prst="rect">
            <a:avLst/>
          </a:prstGeom>
          <a:solidFill>
            <a:srgbClr val="1A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55448"/>
            <a:ext cx="9601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460"/>
                </a:solidFill>
                <a:latin typeface="メイリオ"/>
              </a:rPr>
              <a:t>職種別年収比較（下限・上限 中央値）：カテゴリ間の年収水準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18288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メイリオ"/>
              </a:rPr>
              <a:t>💴 Salary by Category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" y="685800"/>
            <a:ext cx="11887200" cy="18288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8368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メイリオ"/>
              </a:rPr>
              <a:t>※ r-agent 求人掲載データ（2024年）に基づく分析。掲載件数N=10,526件。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0" y="6583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メイリオ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" y="822960"/>
            <a:ext cx="347472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1168" y="822960"/>
            <a:ext cx="3474720" cy="502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9144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メイリオ"/>
              </a:rPr>
              <a:t>最高年収職種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17043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3460"/>
                </a:solidFill>
                <a:latin typeface="メイリオ"/>
              </a:rPr>
              <a:t>不動産開発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04487" y="822960"/>
            <a:ext cx="347472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04487" y="822960"/>
            <a:ext cx="3474720" cy="502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69079" y="9144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メイリオ"/>
              </a:rPr>
              <a:t>不動産開発 下限中央値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69079" y="117043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3460"/>
                </a:solidFill>
                <a:latin typeface="メイリオ"/>
              </a:rPr>
              <a:t>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132588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メイリオ"/>
              </a:rPr>
              <a:t>万円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07808" y="822960"/>
            <a:ext cx="347472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07808" y="822960"/>
            <a:ext cx="3474720" cy="50292"/>
          </a:xfrm>
          <a:prstGeom prst="rect">
            <a:avLst/>
          </a:prstGeom>
          <a:solidFill>
            <a:srgbClr val="21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9144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メイリオ"/>
              </a:rPr>
              <a:t>施工管理 下限中央値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117043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3460"/>
                </a:solidFill>
                <a:latin typeface="メイリオ"/>
              </a:rPr>
              <a:t>450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8" y="132588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メイリオ"/>
              </a:rPr>
              <a:t>万円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1874519"/>
            <a:ext cx="1179576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164592"/>
            <a:ext cx="64008" cy="438912"/>
          </a:xfrm>
          <a:prstGeom prst="rect">
            <a:avLst/>
          </a:prstGeom>
          <a:solidFill>
            <a:srgbClr val="1A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55448"/>
            <a:ext cx="9601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460"/>
                </a:solidFill>
                <a:latin typeface="メイリオ"/>
              </a:rPr>
              <a:t>一級資格保有者の採用には下限568万円以上が競争力の目安、二級比で約150万円高い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18288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メイリオ"/>
              </a:rPr>
              <a:t>🏅 Qualification Premium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" y="685800"/>
            <a:ext cx="11887200" cy="18288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8368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メイリオ"/>
              </a:rPr>
              <a:t>※ r-agent 求人掲載データ（2024年）に基づく分析。掲載件数N=10,526件。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0" y="6583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メイリオ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" y="822960"/>
            <a:ext cx="347472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1168" y="822960"/>
            <a:ext cx="3474720" cy="502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9144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メイリオ"/>
              </a:rPr>
              <a:t>一級建築施工 下限中央値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17043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3460"/>
                </a:solidFill>
                <a:latin typeface="メイリオ"/>
              </a:rPr>
              <a:t>568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132588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メイリオ"/>
              </a:rPr>
              <a:t>万円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04487" y="822960"/>
            <a:ext cx="347472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04487" y="822960"/>
            <a:ext cx="3474720" cy="50292"/>
          </a:xfrm>
          <a:prstGeom prst="rect">
            <a:avLst/>
          </a:prstGeom>
          <a:solidFill>
            <a:srgbClr val="21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9079" y="9144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メイリオ"/>
              </a:rPr>
              <a:t>二級建築施工 下限中央値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79" y="117043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3460"/>
                </a:solidFill>
                <a:latin typeface="メイリオ"/>
              </a:rPr>
              <a:t>422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132588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メイリオ"/>
              </a:rPr>
              <a:t>万円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07808" y="822960"/>
            <a:ext cx="347472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07808" y="822960"/>
            <a:ext cx="3474720" cy="5029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9144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メイリオ"/>
              </a:rPr>
              <a:t>一・二級差分（下限）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117043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3460"/>
                </a:solidFill>
                <a:latin typeface="メイリオ"/>
              </a:rPr>
              <a:t>▲146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67344" y="132588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メイリオ"/>
              </a:rPr>
              <a:t>万円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" y="1901952"/>
            <a:ext cx="5760720" cy="292608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8" y="1938528"/>
            <a:ext cx="5577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63EB"/>
                </a:solidFill>
                <a:latin typeface="メイリオ"/>
              </a:rPr>
              <a:t>一級資格  提示年収（下限中央値）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2212848"/>
            <a:ext cx="5760720" cy="41148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6144768" y="1901952"/>
            <a:ext cx="5760720" cy="292608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1928" y="1938528"/>
            <a:ext cx="5577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63EB"/>
                </a:solidFill>
                <a:latin typeface="メイリオ"/>
              </a:rPr>
              <a:t>二級資格  提示年収（下限中央値）</a:t>
            </a:r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2212848"/>
            <a:ext cx="57607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164592"/>
            <a:ext cx="64008" cy="438912"/>
          </a:xfrm>
          <a:prstGeom prst="rect">
            <a:avLst/>
          </a:prstGeom>
          <a:solidFill>
            <a:srgbClr val="1A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55448"/>
            <a:ext cx="9601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460"/>
                </a:solidFill>
                <a:latin typeface="メイリオ"/>
              </a:rPr>
              <a:t>上場区分別 下限年収中央値：プライム・スタンダード・グロース・非上場の比較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18288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メイリオ"/>
              </a:rPr>
              <a:t>🏢 Listed vs Non-Listed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" y="685800"/>
            <a:ext cx="11887200" cy="18288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8368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メイリオ"/>
              </a:rPr>
              <a:t>※ r-agent 求人掲載データ（2024年）に基づく分析。掲載件数N=10,526件。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0" y="6583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メイリオ"/>
              </a:rP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" y="822960"/>
            <a:ext cx="347472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1168" y="822960"/>
            <a:ext cx="3474720" cy="502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9144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メイリオ"/>
              </a:rPr>
              <a:t>非上場/不明 下限中央値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17043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3460"/>
                </a:solidFill>
                <a:latin typeface="メイリオ"/>
              </a:rPr>
              <a:t>450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132588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メイリオ"/>
              </a:rPr>
              <a:t>万円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04487" y="822960"/>
            <a:ext cx="347472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04487" y="822960"/>
            <a:ext cx="3474720" cy="50292"/>
          </a:xfrm>
          <a:prstGeom prst="rect">
            <a:avLst/>
          </a:prstGeom>
          <a:solidFill>
            <a:srgbClr val="21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9079" y="9144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メイリオ"/>
              </a:rPr>
              <a:t>プライム上場 下限中央値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79" y="117043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3460"/>
                </a:solidFill>
                <a:latin typeface="メイリオ"/>
              </a:rPr>
              <a:t>435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132588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メイリオ"/>
              </a:rPr>
              <a:t>万円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07808" y="822960"/>
            <a:ext cx="347472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07808" y="822960"/>
            <a:ext cx="3474720" cy="502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9144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メイリオ"/>
              </a:rPr>
              <a:t>非上場 vs プライム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117043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3460"/>
                </a:solidFill>
                <a:latin typeface="メイリオ"/>
              </a:rPr>
              <a:t>＋15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132588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メイリオ"/>
              </a:rPr>
              <a:t>万円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1874519"/>
            <a:ext cx="1179576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164592"/>
            <a:ext cx="64008" cy="438912"/>
          </a:xfrm>
          <a:prstGeom prst="rect">
            <a:avLst/>
          </a:prstGeom>
          <a:solidFill>
            <a:srgbClr val="1A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55448"/>
            <a:ext cx="9601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460"/>
                </a:solidFill>
                <a:latin typeface="メイリオ"/>
              </a:rPr>
              <a:t>年間休日分布（N=10,526件）：120〜125日帯への集中状況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18288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メイリオ"/>
              </a:rPr>
              <a:t>📅 Annual Leave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" y="685800"/>
            <a:ext cx="11887200" cy="18288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8368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メイリオ"/>
              </a:rPr>
              <a:t>※ r-agent 求人掲載データ（2024年）に基づく分析。掲載件数N=10,526件。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0" y="6583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メイリオ"/>
              </a:rPr>
              <a:t>6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" y="822960"/>
            <a:ext cx="347472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1168" y="822960"/>
            <a:ext cx="3474720" cy="50292"/>
          </a:xfrm>
          <a:prstGeom prst="rect">
            <a:avLst/>
          </a:prstGeom>
          <a:solidFill>
            <a:srgbClr val="21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9144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メイリオ"/>
              </a:rPr>
              <a:t>年間休日データあり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17043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3460"/>
                </a:solidFill>
                <a:latin typeface="メイリオ"/>
              </a:rPr>
              <a:t>7,271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132588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メイリオ"/>
              </a:rPr>
              <a:t>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04487" y="822960"/>
            <a:ext cx="347472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04487" y="822960"/>
            <a:ext cx="3474720" cy="502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9079" y="9144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メイリオ"/>
              </a:rPr>
              <a:t>中央値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79" y="117043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3460"/>
                </a:solidFill>
                <a:latin typeface="メイリオ"/>
              </a:rPr>
              <a:t>120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132588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メイリオ"/>
              </a:rPr>
              <a:t>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07808" y="822960"/>
            <a:ext cx="347472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07808" y="822960"/>
            <a:ext cx="3474720" cy="5029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9144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メイリオ"/>
              </a:rPr>
              <a:t>120〜125日帯 集中率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117043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3460"/>
                </a:solidFill>
                <a:latin typeface="メイリオ"/>
              </a:rPr>
              <a:t>99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19872" y="132588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メイリオ"/>
              </a:rPr>
              <a:t>%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1874519"/>
            <a:ext cx="11795760" cy="46177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164592"/>
            <a:ext cx="64008" cy="438912"/>
          </a:xfrm>
          <a:prstGeom prst="rect">
            <a:avLst/>
          </a:prstGeom>
          <a:solidFill>
            <a:srgbClr val="1A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55448"/>
            <a:ext cx="9601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460"/>
                </a:solidFill>
                <a:latin typeface="メイリオ"/>
              </a:rPr>
              <a:t>月残業時間 分布（N=10,526件）：20〜30h帯への集中状況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18288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メイリオ"/>
              </a:rPr>
              <a:t>⏱ Overtime Distribution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" y="685800"/>
            <a:ext cx="11887200" cy="18288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8368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メイリオ"/>
              </a:rPr>
              <a:t>※ r-agent 求人掲載データ（2024年）に基づく分析。掲載件数N=10,526件。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0" y="6583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メイリオ"/>
              </a:rPr>
              <a:t>7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" y="822960"/>
            <a:ext cx="347472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1168" y="822960"/>
            <a:ext cx="3474720" cy="50292"/>
          </a:xfrm>
          <a:prstGeom prst="rect">
            <a:avLst/>
          </a:prstGeom>
          <a:solidFill>
            <a:srgbClr val="21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9144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メイリオ"/>
              </a:rPr>
              <a:t>残業データあり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17043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3460"/>
                </a:solidFill>
                <a:latin typeface="メイリオ"/>
              </a:rPr>
              <a:t>2,550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132588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メイリオ"/>
              </a:rPr>
              <a:t>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04487" y="822960"/>
            <a:ext cx="347472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04487" y="822960"/>
            <a:ext cx="3474720" cy="502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9079" y="9144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メイリオ"/>
              </a:rPr>
              <a:t>中央値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79" y="117043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3460"/>
                </a:solidFill>
                <a:latin typeface="メイリオ"/>
              </a:rPr>
              <a:t>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6551" y="132588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メイリオ"/>
              </a:rPr>
              <a:t>h/月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07808" y="822960"/>
            <a:ext cx="347472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07808" y="822960"/>
            <a:ext cx="3474720" cy="5029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9144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メイリオ"/>
              </a:rPr>
              <a:t>20〜30h帯 集中率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117043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3460"/>
                </a:solidFill>
                <a:latin typeface="メイリオ"/>
              </a:rPr>
              <a:t>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19872" y="132588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メイリオ"/>
              </a:rPr>
              <a:t>%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1874519"/>
            <a:ext cx="11795760" cy="46177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164592"/>
            <a:ext cx="64008" cy="438912"/>
          </a:xfrm>
          <a:prstGeom prst="rect">
            <a:avLst/>
          </a:prstGeom>
          <a:solidFill>
            <a:srgbClr val="1A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55448"/>
            <a:ext cx="9601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460"/>
                </a:solidFill>
                <a:latin typeface="メイリオ"/>
              </a:rPr>
              <a:t>特典別 普及率（%）：競合求人10,526件における各条件の記載率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18288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メイリオ"/>
              </a:rPr>
              <a:t>📋 Benefit Penetration Rate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" y="685800"/>
            <a:ext cx="11887200" cy="18288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8368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メイリオ"/>
              </a:rPr>
              <a:t>※ r-agent 求人掲載データ（2024年）に基づく分析。掲載件数N=10,526件。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0" y="6583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メイリオ"/>
              </a:rPr>
              <a:t>8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" y="822960"/>
            <a:ext cx="347472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1168" y="822960"/>
            <a:ext cx="3474720" cy="50292"/>
          </a:xfrm>
          <a:prstGeom prst="rect">
            <a:avLst/>
          </a:prstGeom>
          <a:solidFill>
            <a:srgbClr val="21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9144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メイリオ"/>
              </a:rPr>
              <a:t>完全週休2日 普及率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17043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3460"/>
                </a:solidFill>
                <a:latin typeface="メイリオ"/>
              </a:rPr>
              <a:t>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132588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メイリオ"/>
              </a:rPr>
              <a:t>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04487" y="822960"/>
            <a:ext cx="347472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04487" y="822960"/>
            <a:ext cx="3474720" cy="50292"/>
          </a:xfrm>
          <a:prstGeom prst="rect">
            <a:avLst/>
          </a:prstGeom>
          <a:solidFill>
            <a:srgbClr val="21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9079" y="9144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メイリオ"/>
              </a:rPr>
              <a:t>退職金制度 普及率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79" y="117043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3460"/>
                </a:solidFill>
                <a:latin typeface="メイリオ"/>
              </a:rPr>
              <a:t>74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6551" y="132588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メイリオ"/>
              </a:rPr>
              <a:t>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07808" y="822960"/>
            <a:ext cx="347472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07808" y="822960"/>
            <a:ext cx="3474720" cy="502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9144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メイリオ"/>
              </a:rPr>
              <a:t>リモートワーク普及率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117043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3460"/>
                </a:solidFill>
                <a:latin typeface="メイリオ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46136" y="132588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メイリオ"/>
              </a:rPr>
              <a:t>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" y="1901952"/>
            <a:ext cx="5760720" cy="29260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8" y="1938528"/>
            <a:ext cx="5577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メイリオ"/>
              </a:rPr>
              <a:t>業界標準（普及率50%超）：訴求効果が薄い条件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2212848"/>
            <a:ext cx="5760720" cy="384048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5961888" y="1901952"/>
            <a:ext cx="6035040" cy="292608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9048" y="1938528"/>
            <a:ext cx="58521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63EB"/>
                </a:solidFill>
                <a:latin typeface="メイリオ"/>
              </a:rPr>
              <a:t>普及率 50%未満の条件</a:t>
            </a:r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1888" y="2212848"/>
            <a:ext cx="603504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164592"/>
            <a:ext cx="64008" cy="438912"/>
          </a:xfrm>
          <a:prstGeom prst="rect">
            <a:avLst/>
          </a:prstGeom>
          <a:solidFill>
            <a:srgbClr val="1A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55448"/>
            <a:ext cx="9601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460"/>
                </a:solidFill>
                <a:latin typeface="メイリオ"/>
              </a:rPr>
              <a:t>リモートワーク・フレックス導入率（%）：建設業と他業種参考値の比較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18288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メイリオ"/>
              </a:rPr>
              <a:t>🏠 Remote &amp; Flex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" y="685800"/>
            <a:ext cx="11887200" cy="18288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8368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メイリオ"/>
              </a:rPr>
              <a:t>※ r-agent 求人掲載データ（2024年）に基づく分析。掲載件数N=10,526件。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0" y="6583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メイリオ"/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" y="822960"/>
            <a:ext cx="347472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1168" y="822960"/>
            <a:ext cx="3474720" cy="5029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9144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メイリオ"/>
              </a:rPr>
              <a:t>建設業 リモートワーク率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17043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3460"/>
                </a:solidFill>
                <a:latin typeface="メイリオ"/>
              </a:rPr>
              <a:t>6.3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132588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メイリオ"/>
              </a:rPr>
              <a:t>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04487" y="822960"/>
            <a:ext cx="347472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04487" y="822960"/>
            <a:ext cx="3474720" cy="50292"/>
          </a:xfrm>
          <a:prstGeom prst="rect">
            <a:avLst/>
          </a:prstGeom>
          <a:solidFill>
            <a:srgbClr val="21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9079" y="9144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メイリオ"/>
              </a:rPr>
              <a:t>他業種 参考値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79" y="117043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3460"/>
                </a:solidFill>
                <a:latin typeface="メイリオ"/>
              </a:rPr>
              <a:t>55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6551" y="132588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メイリオ"/>
              </a:rPr>
              <a:t>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07808" y="822960"/>
            <a:ext cx="347472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07808" y="822960"/>
            <a:ext cx="3474720" cy="5029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9144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メイリオ"/>
              </a:rPr>
              <a:t>競合との差（リモート）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117043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3460"/>
                </a:solidFill>
                <a:latin typeface="メイリオ"/>
              </a:rPr>
              <a:t>▲49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132588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メイリオ"/>
              </a:rPr>
              <a:t>pt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1874519"/>
            <a:ext cx="11795760" cy="46177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164592"/>
            <a:ext cx="64008" cy="438912"/>
          </a:xfrm>
          <a:prstGeom prst="rect">
            <a:avLst/>
          </a:prstGeom>
          <a:solidFill>
            <a:srgbClr val="1A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55448"/>
            <a:ext cx="9601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460"/>
                </a:solidFill>
                <a:latin typeface="メイリオ"/>
              </a:rPr>
              <a:t>育休・産休実績 求人票記載率：建設業（2%）と他業種参考値の比較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18288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メイリオ"/>
              </a:rPr>
              <a:t>👶 Parental Leave Disclosure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" y="685800"/>
            <a:ext cx="11887200" cy="18288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8368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メイリオ"/>
              </a:rPr>
              <a:t>※ r-agent 求人掲載データ（2024年）に基づく分析。掲載件数N=10,526件。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0" y="6583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メイリオ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" y="822960"/>
            <a:ext cx="347472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1168" y="822960"/>
            <a:ext cx="3474720" cy="5029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9144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メイリオ"/>
              </a:rPr>
              <a:t>育休実績 開示率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17043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3460"/>
                </a:solidFill>
                <a:latin typeface="メイリオ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" y="132588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メイリオ"/>
              </a:rPr>
              <a:t>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04487" y="822960"/>
            <a:ext cx="347472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04487" y="822960"/>
            <a:ext cx="3474720" cy="50292"/>
          </a:xfrm>
          <a:prstGeom prst="rect">
            <a:avLst/>
          </a:prstGeom>
          <a:solidFill>
            <a:srgbClr val="21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9079" y="9144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メイリオ"/>
              </a:rPr>
              <a:t>製造業 参考値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79" y="117043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3460"/>
                </a:solidFill>
                <a:latin typeface="メイリオ"/>
              </a:rPr>
              <a:t>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6551" y="132588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メイリオ"/>
              </a:rPr>
              <a:t>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07808" y="822960"/>
            <a:ext cx="347472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07808" y="822960"/>
            <a:ext cx="3474720" cy="502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9144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メイリオ"/>
              </a:rPr>
              <a:t>IT業界 参考値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117043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3460"/>
                </a:solidFill>
                <a:latin typeface="メイリオ"/>
              </a:rPr>
              <a:t>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19872" y="132588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メイリオ"/>
              </a:rPr>
              <a:t>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" y="1874519"/>
            <a:ext cx="5029200" cy="4297680"/>
          </a:xfrm>
          <a:prstGeom prst="rect">
            <a:avLst/>
          </a:prstGeom>
          <a:solidFill>
            <a:srgbClr val="FF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01168" y="1874519"/>
            <a:ext cx="502920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1168" y="201168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0" b="1" i="0">
                <a:solidFill>
                  <a:srgbClr val="EF4444"/>
                </a:solidFill>
                <a:latin typeface="メイリオ"/>
              </a:rPr>
              <a:t>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794760"/>
            <a:ext cx="4663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メイリオ"/>
              </a:rPr>
              <a:t>10,526件中 約225件のみが
育休・産休実績を求人票に記載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" y="4572000"/>
            <a:ext cx="5029200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1168" y="468172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F4444"/>
                </a:solidFill>
                <a:latin typeface="メイリオ"/>
              </a:rPr>
              <a:t>業界最低水準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874519"/>
            <a:ext cx="6492240" cy="46177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