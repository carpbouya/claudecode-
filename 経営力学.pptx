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/>
          </p:nvPr>
        </p:nvSpPr>
        <p:spPr>
          <a:xfrm>
            <a:off x="731520" y="2194560"/>
            <a:ext cx="10698480" cy="2194560"/>
          </a:xfrm>
          <a:prstGeom prst="rect">
            <a:avLst/>
          </a:prstGeom>
        </p:spPr>
        <p:txBody>
          <a:bodyPr wrap="square" anchor="ctr" lIns="0" tIns="0" rIns="0" bIns="0">
            <a:normAutofit/>
          </a:bodyPr>
          <a:lstStyle>
            <a:lvl1pPr indent="0" algn="ctr">
              <a:buNone/>
              <a:defRPr sz="60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60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プレゼンタイトル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731520" y="4480560"/>
            <a:ext cx="10698480" cy="128016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algn="ctr">
              <a:buNone/>
              <a:defRPr sz="2200" b="1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2200" b="1" dirty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ctrTitle"/>
          </p:nvPr>
        </p:nvSpPr>
        <p:spPr>
          <a:xfrm>
            <a:off x="457200" y="2377440"/>
            <a:ext cx="11247120" cy="2194560"/>
          </a:xfrm>
          <a:prstGeom prst="rect">
            <a:avLst/>
          </a:prstGeom>
        </p:spPr>
        <p:txBody>
          <a:bodyPr wrap="square" anchor="ctr" lIns="0" tIns="0" rIns="0" bIns="0">
            <a:normAutofit/>
          </a:bodyPr>
          <a:lstStyle>
            <a:lvl1pPr indent="0" algn="ctr">
              <a:buNone/>
              <a:defRPr sz="4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4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anchor="b" lIns="0" tIns="0" rIns="0" bIns="0">
            <a:normAutofit/>
          </a:bodyPr>
          <a:lstStyle>
            <a:lvl1pPr indent="0" algn="l">
              <a:buNone/>
              <a:defRPr sz="3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4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Body"/>
          <p:cNvSpPr>
            <a:spLocks noGrp="1"/>
          </p:cNvSpPr>
          <p:nvPr>
            <p:ph type="body" idx="1"/>
          </p:nvPr>
        </p:nvSpPr>
        <p:spPr>
          <a:xfrm>
            <a:off x="777240" y="1371600"/>
            <a:ext cx="10515600" cy="502920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22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</a:pPr>
            <a:r>
              <a:rPr lang="ja-JP" sz="22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箇条書きをここに入力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anchor="b" lIns="0" tIns="0" rIns="0" bIns="0">
            <a:normAutofit/>
          </a:bodyPr>
          <a:lstStyle>
            <a:lvl1pPr indent="0" algn="l">
              <a:buNone/>
              <a:defRPr sz="3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5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777240" y="2194560"/>
            <a:ext cx="5120640" cy="393192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46520" y="2194560"/>
            <a:ext cx="5120640" cy="393192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9101" name="Left Subtitle"/>
          <p:cNvSpPr>
            <a:spLocks noGrp="1"/>
          </p:cNvSpPr>
          <p:nvPr>
            <p:ph type="body" sz="quarter" idx="10"/>
          </p:nvPr>
        </p:nvSpPr>
        <p:spPr>
          <a:xfrm>
            <a:off x="777240" y="1600200"/>
            <a:ext cx="5120640" cy="54864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marL="0" algn="l">
              <a:buNone/>
              <a:defRPr sz="28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marL="0" algn="l">
              <a:buNone/>
            </a:pPr>
            <a:r>
              <a:rPr lang="ja-JP" sz="28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  <p:sp>
        <p:nvSpPr>
          <p:cNvPr id="9102" name="Right Subtitle"/>
          <p:cNvSpPr>
            <a:spLocks noGrp="1"/>
          </p:cNvSpPr>
          <p:nvPr>
            <p:ph type="body" sz="quarter" idx="11"/>
          </p:nvPr>
        </p:nvSpPr>
        <p:spPr>
          <a:xfrm>
            <a:off x="6446520" y="1600200"/>
            <a:ext cx="5120640" cy="54864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marL="0" algn="l">
              <a:buNone/>
              <a:defRPr sz="28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marL="0" algn="l">
              <a:buNone/>
            </a:pPr>
            <a:r>
              <a:rPr lang="ja-JP" sz="28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BorderGradi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2" name="BorderInner"/>
          <p:cNvSpPr/>
          <p:nvPr/>
        </p:nvSpPr>
        <p:spPr>
          <a:xfrm>
            <a:off x="88900" y="88900"/>
            <a:ext cx="12013895" cy="668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pic>
        <p:nvPicPr>
          <p:cNvPr id="1003" name="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0207" y="320040"/>
            <a:ext cx="230428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経営力学</a:t>
            </a:r>
          </a:p>
          <a:p>
            <a:r>
              <a:t>（Management Dynamics）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経営を予測可能な力学モデルとして再構築する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なぜ今、経営力学なのか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経営学には目的関数がない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フレームワークや概念の羅列は増えるが、何を最大化するかが</a:t>
            </a:r>
          </a:p>
          <a:p>
            <a:r>
              <a:t>統一されない</a:t>
            </a:r>
          </a:p>
          <a:p>
            <a:r>
              <a:t>ケースや経験則の集積にとどまり、予測も介入点の特定も</a:t>
            </a:r>
          </a:p>
          <a:p>
            <a:r>
              <a:t>できない</a:t>
            </a:r>
          </a:p>
          <a:p>
            <a:r>
              <a:t>会計は過去の記録、ファイナンスは割引率の最適化 ── FCFを</a:t>
            </a:r>
          </a:p>
          <a:p>
            <a:r>
              <a:t>生む構造は誰も扱わない</a:t>
            </a:r>
          </a:p>
          <a:p>
            <a:r>
              <a:t>経営を制御可能な力学系に押し上げる新しい座標系が必要だ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経営力学の定義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経営力学とは何か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企業価値を目的関数とし、内部資本・外部資本・配置構造を</a:t>
            </a:r>
          </a:p>
          <a:p>
            <a:r>
              <a:t>状態変数として、経営行為を最適化問題として記述する学問</a:t>
            </a:r>
          </a:p>
          <a:p>
            <a:r>
              <a:t>目的関数：V = Σ βᵗ・FCFₜ（将来キャッシュフローの</a:t>
            </a:r>
          </a:p>
          <a:p>
            <a:r>
              <a:t>割引現在価値の最大化）</a:t>
            </a:r>
          </a:p>
          <a:p>
            <a:r>
              <a:t>経営とは「今の判断が5年後のキャッシュをどう変えるか」を</a:t>
            </a:r>
          </a:p>
          <a:p>
            <a:r>
              <a:t>扱う問題である</a:t>
            </a:r>
          </a:p>
          <a:p>
            <a:r>
              <a:t>思想・規範論の段階から、予測可能性と介入可能性を</a:t>
            </a:r>
          </a:p>
          <a:p>
            <a:r>
              <a:t>持つ力学体系へ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理論の骨格：3つの状態変数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企業を記述する最小完全系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K_in ／ 内部資本</a:t>
            </a:r>
          </a:p>
          <a:p>
            <a:r>
              <a:t>（Internal Capital）</a:t>
            </a:r>
          </a:p>
          <a:p>
            <a:r>
              <a:t>組織内部に内在する生産能力の総和</a:t>
            </a:r>
          </a:p>
          <a:p>
            <a:r>
              <a:t>人的資本・知識・スキル・認知能力・心理資源</a:t>
            </a:r>
          </a:p>
          <a:p>
            <a:r>
              <a:t>→ 人が何をできるか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K_out ／ 外部資本</a:t>
            </a:r>
          </a:p>
          <a:p>
            <a:r>
              <a:t>（External Capital）</a:t>
            </a:r>
          </a:p>
          <a:p>
            <a:r>
              <a:t>組織が外部と結合することで得る</a:t>
            </a:r>
          </a:p>
          <a:p>
            <a:r>
              <a:t>レバレッジ</a:t>
            </a:r>
          </a:p>
          <a:p>
            <a:r>
              <a:t>社会関係資本・</a:t>
            </a:r>
          </a:p>
          <a:p>
            <a:r>
              <a:t>ネットワーク・評判・ブランド・アライアンス</a:t>
            </a:r>
          </a:p>
          <a:p>
            <a:r>
              <a:t>→ 誰とつながっているか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K_in　内部資本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K_out　外部資本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／ 配置構造（Architecture）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K_in と K_out をどのように接続・配置・変換しているかと</a:t>
            </a:r>
          </a:p>
          <a:p>
            <a:r>
              <a:t>いう構造</a:t>
            </a:r>
          </a:p>
          <a:p>
            <a:r>
              <a:t>組織設計・権限配分・情報フロー・役割設計・インセンティブ構造</a:t>
            </a:r>
          </a:p>
          <a:p>
            <a:r>
              <a:t>→ どう配置・設計しているか</a:t>
            </a:r>
          </a:p>
          <a:p>
            <a:r>
              <a:t>基本モデル：V = f（K_in，K_out，A）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すべての経営判断はここに帰着する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採用　→　K_in を増やす</a:t>
            </a:r>
          </a:p>
          <a:p>
            <a:r>
              <a:t>育成　→　K_in の変換効率を高める</a:t>
            </a:r>
          </a:p>
          <a:p>
            <a:r>
              <a:t>アライアンス　→　K_out を増やす</a:t>
            </a:r>
          </a:p>
          <a:p>
            <a:r>
              <a:t>組織設計　→　A を変更する</a:t>
            </a:r>
          </a:p>
          <a:p>
            <a:r>
              <a:t>事業再編　→　A と K_out を同時に動かす</a:t>
            </a:r>
          </a:p>
          <a:p>
            <a:r>
              <a:t>投資　→　K_in ／ K_out ／ A のいずれかを増幅する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既存理論との決定的な差分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会計：過去の結果の記録</a:t>
            </a:r>
          </a:p>
          <a:p>
            <a:r>
              <a:t>ファイナンス：割引率・資本構成の最適化</a:t>
            </a:r>
          </a:p>
          <a:p>
            <a:r>
              <a:t>→ 価値をどう測るか の理論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経営力学：将来のFCF生成構造の</a:t>
            </a:r>
          </a:p>
          <a:p>
            <a:r>
              <a:t>制御モデル</a:t>
            </a:r>
          </a:p>
          <a:p>
            <a:r>
              <a:t>FCFそのものを生み出す構造を</a:t>
            </a:r>
          </a:p>
          <a:p>
            <a:r>
              <a:t>最適化する</a:t>
            </a:r>
          </a:p>
          <a:p>
            <a:r>
              <a:t>→ 価値をどう生み出すか の理論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既存の学問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経営力学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組織力学の3法則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第一法則：慣性の法則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組織は、外部から力が加わらない限り、現在の状態を</a:t>
            </a:r>
          </a:p>
          <a:p>
            <a:r>
              <a:t>維持しようとする</a:t>
            </a:r>
          </a:p>
          <a:p>
            <a:r>
              <a:t>前例がない・リスクがある・上が納得しない── すべて</a:t>
            </a:r>
          </a:p>
          <a:p>
            <a:r>
              <a:t>組織慣性の現れ</a:t>
            </a:r>
          </a:p>
          <a:p>
            <a:r>
              <a:t>新しいアイデアを持つ個人のエネルギーは、この巨大な慣性の</a:t>
            </a:r>
          </a:p>
          <a:p>
            <a:r>
              <a:t>前に摩耗する</a:t>
            </a:r>
          </a:p>
          <a:p>
            <a:r>
              <a:t>→ 変化には慣性を超える力か、慣性の小さい場所が必要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第二法則：加速度の法則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組織の変化の加速度は、加えられた力に比例し、組織の質量に</a:t>
            </a:r>
          </a:p>
          <a:p>
            <a:r>
              <a:t>反比例する</a:t>
            </a:r>
          </a:p>
          <a:p>
            <a:r>
              <a:t>質量＝意思決定の階層数・部門間の壁・過去の成功体験への固執</a:t>
            </a:r>
          </a:p>
          <a:p>
            <a:r>
              <a:t>小さなベンチャーが一人の天才で急加速できる理由はここにある</a:t>
            </a:r>
          </a:p>
          <a:p>
            <a:r>
              <a:t>→ 大企業では同じ力でも加速度はほぼゼロ。力を加える</a:t>
            </a:r>
          </a:p>
          <a:p>
            <a:r>
              <a:t>場所が重要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第三法則：作用・反作用の法則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個人が組織に力を加えようとすると、組織は必ず同じ大きさの</a:t>
            </a:r>
          </a:p>
          <a:p>
            <a:r>
              <a:t>力で押し返す</a:t>
            </a:r>
          </a:p>
          <a:p>
            <a:r>
              <a:t>正論をぶつければ「出る杭は打たれる」という反作用が必ず</a:t>
            </a:r>
          </a:p>
          <a:p>
            <a:r>
              <a:t>返ってくる</a:t>
            </a:r>
          </a:p>
          <a:p>
            <a:r>
              <a:t>組織は自らの構造を守るため、変化の担い手を無意識に異物と</a:t>
            </a:r>
          </a:p>
          <a:p>
            <a:r>
              <a:t>して排除する</a:t>
            </a:r>
          </a:p>
          <a:p>
            <a:r>
              <a:t>→ 組織に抗うのではなく、組織の力を利用してサーフィンをせよ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摩擦と粘性 ── エネルギーを奪う内部抵抗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組織摩擦：部</a:t>
            </a:r>
          </a:p>
          <a:p>
            <a:r>
              <a:t>門間対立・縄張り争い・コミュニケーション不足による</a:t>
            </a:r>
          </a:p>
          <a:p>
            <a:r>
              <a:t>エネルギーロス</a:t>
            </a:r>
          </a:p>
          <a:p>
            <a:r>
              <a:t>組織粘性：稟議・ハンコ文化・長時間会議による意思決定の</a:t>
            </a:r>
          </a:p>
          <a:p>
            <a:r>
              <a:t>遅延と抵抗力</a:t>
            </a:r>
          </a:p>
          <a:p>
            <a:r>
              <a:t>高性能なエンジン（優秀な人材）も、摩擦と粘性が高ければ</a:t>
            </a:r>
          </a:p>
          <a:p>
            <a:r>
              <a:t>推進力に変わらない</a:t>
            </a:r>
          </a:p>
          <a:p>
            <a:r>
              <a:t>→ 個人の能力ではなく、構造の問題として診断・介入する</a:t>
            </a:r>
          </a:p>
          <a:p>
            <a:r>
              <a:t>ことが本質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経営力学が実現する3つのこと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予測：この配置は当たるか。この組織設計は失敗しやすいか</a:t>
            </a:r>
          </a:p>
          <a:p>
            <a:r>
              <a:t>介入：どの状態変数を、どの方向に、どれだけ動かすか</a:t>
            </a:r>
          </a:p>
          <a:p>
            <a:r>
              <a:t>最適化：K_in・K_out・Aを制御しFCF生成構造を改善する</a:t>
            </a:r>
          </a:p>
          <a:p>
            <a:r>
              <a:t>既存理論より高い精度で企業成果を予測できるとき、これは</a:t>
            </a:r>
          </a:p>
          <a:p>
            <a:r>
              <a:t>思想から理論になる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経営を制御可能にする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予測・介入・最適化が可能な新しい経営の座標系へ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